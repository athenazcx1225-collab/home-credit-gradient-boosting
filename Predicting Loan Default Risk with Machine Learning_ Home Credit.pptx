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20f90b92f686faa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20f90b92f686faa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20f90b92f686faa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20f90b92f686faa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h20f90b92f686faa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h20f90b92f686faa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h20f90b92f686faa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h20f90b92f686faa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20f90b92f686faa6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h20f90b92f686faa6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h20f90b92f686faa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h20f90b92f686faa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h20f90b92f686faa6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h20f90b92f686faa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20f90b92f686faa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h20f90b92f686faa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h20f90b92f686faa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h20f90b92f686faa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20f90b92f686faa6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h20f90b92f686faa6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h20f90b92f686faa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h20f90b92f686faa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h20f90b92f686faa6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h20f90b92f686faa6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196725"/>
            <a:ext cx="8520600" cy="17319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zh-CN" sz="3900"/>
              <a:t>Predicting Loan Default Risk with Machine Learning: Home Credit</a:t>
            </a:r>
            <a:endParaRPr sz="6100"/>
          </a:p>
        </p:txBody>
      </p:sp>
      <p:sp>
        <p:nvSpPr>
          <p:cNvPr id="55" name="Google Shape;55;p13"/>
          <p:cNvSpPr txBox="1"/>
          <p:nvPr>
            <p:ph idx="1" type="subTitle"/>
          </p:nvPr>
        </p:nvSpPr>
        <p:spPr>
          <a:xfrm>
            <a:off x="5392225" y="3170050"/>
            <a:ext cx="8520600" cy="7926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zh-CN" sz="2300">
                <a:solidFill>
                  <a:schemeClr val="dk1"/>
                </a:solidFill>
                <a:highlight>
                  <a:schemeClr val="lt1"/>
                </a:highlight>
              </a:rPr>
              <a:t>—Athena Zhao</a:t>
            </a:r>
            <a:endParaRPr sz="2300">
              <a:solidFill>
                <a:schemeClr val="dk1"/>
              </a:solidFill>
              <a:highlight>
                <a:schemeClr val="lt1"/>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Problem and Datasets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What are trying to predict?</a:t>
            </a:r>
            <a:endParaRPr/>
          </a:p>
          <a:p>
            <a:pPr indent="0" lvl="0" marL="0" rtl="0" algn="l">
              <a:spcBef>
                <a:spcPts val="1200"/>
              </a:spcBef>
              <a:spcAft>
                <a:spcPts val="0"/>
              </a:spcAft>
              <a:buNone/>
            </a:pPr>
            <a:r>
              <a:rPr lang="zh-CN"/>
              <a:t>-Each </a:t>
            </a:r>
            <a:r>
              <a:rPr lang="zh-CN"/>
              <a:t>observation</a:t>
            </a:r>
            <a:r>
              <a:rPr lang="zh-CN"/>
              <a:t> → one loan application</a:t>
            </a:r>
            <a:endParaRPr/>
          </a:p>
          <a:p>
            <a:pPr indent="0" lvl="0" marL="0" rtl="0" algn="l">
              <a:spcBef>
                <a:spcPts val="1200"/>
              </a:spcBef>
              <a:spcAft>
                <a:spcPts val="0"/>
              </a:spcAft>
              <a:buNone/>
            </a:pPr>
            <a:r>
              <a:rPr lang="zh-CN"/>
              <a:t>-Target= whether the applicant defaults</a:t>
            </a:r>
            <a:endParaRPr/>
          </a:p>
          <a:p>
            <a:pPr indent="0" lvl="0" marL="0" rtl="0" algn="l">
              <a:spcBef>
                <a:spcPts val="1200"/>
              </a:spcBef>
              <a:spcAft>
                <a:spcPts val="0"/>
              </a:spcAft>
              <a:buNone/>
            </a:pPr>
            <a:r>
              <a:rPr lang="zh-CN"/>
              <a:t>Target=1:default, Target=0: no default</a:t>
            </a:r>
            <a:endParaRPr/>
          </a:p>
          <a:p>
            <a:pPr indent="0" lvl="0" marL="0" rtl="0" algn="l">
              <a:spcBef>
                <a:spcPts val="1200"/>
              </a:spcBef>
              <a:spcAft>
                <a:spcPts val="0"/>
              </a:spcAft>
              <a:buNone/>
            </a:pPr>
            <a:r>
              <a:rPr lang="zh-CN"/>
              <a:t>-Evaluation metric: ROC-AUC </a:t>
            </a:r>
            <a:endParaRPr/>
          </a:p>
          <a:p>
            <a:pPr indent="0" lvl="0" marL="0" rtl="0" algn="l">
              <a:spcBef>
                <a:spcPts val="1200"/>
              </a:spcBef>
              <a:spcAft>
                <a:spcPts val="1200"/>
              </a:spcAft>
              <a:buNone/>
            </a:pPr>
            <a:r>
              <a:rPr lang="zh-CN"/>
              <a:t>Rather than predicting a yes/no outcome, the model outputs a probability of default for every applicant.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Data Sources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zh-CN" sz="5810"/>
              <a:t>The key challenge here is that every csv file has different structure.</a:t>
            </a:r>
            <a:endParaRPr sz="5810"/>
          </a:p>
          <a:p>
            <a:pPr indent="0" lvl="0" marL="0" rtl="0" algn="l">
              <a:spcBef>
                <a:spcPts val="1200"/>
              </a:spcBef>
              <a:spcAft>
                <a:spcPts val="0"/>
              </a:spcAft>
              <a:buNone/>
            </a:pPr>
            <a:r>
              <a:rPr lang="zh-CN" sz="5810"/>
              <a:t>-application.csv–one row per applicant</a:t>
            </a:r>
            <a:endParaRPr sz="5810"/>
          </a:p>
          <a:p>
            <a:pPr indent="0" lvl="0" marL="0" rtl="0" algn="l">
              <a:spcBef>
                <a:spcPts val="1200"/>
              </a:spcBef>
              <a:spcAft>
                <a:spcPts val="0"/>
              </a:spcAft>
              <a:buClr>
                <a:schemeClr val="dk1"/>
              </a:buClr>
              <a:buSzPts val="275"/>
              <a:buFont typeface="Arial"/>
              <a:buNone/>
            </a:pPr>
            <a:r>
              <a:rPr lang="zh-CN" sz="5536">
                <a:solidFill>
                  <a:schemeClr val="dk1"/>
                </a:solidFill>
              </a:rPr>
              <a:t>SK_ID_CURR | income | age | education | credit amount | TARGET</a:t>
            </a:r>
            <a:endParaRPr sz="5536">
              <a:solidFill>
                <a:schemeClr val="dk1"/>
              </a:solidFill>
            </a:endParaRPr>
          </a:p>
          <a:p>
            <a:pPr indent="0" lvl="0" marL="0" rtl="0" algn="l">
              <a:spcBef>
                <a:spcPts val="0"/>
              </a:spcBef>
              <a:spcAft>
                <a:spcPts val="0"/>
              </a:spcAft>
              <a:buClr>
                <a:schemeClr val="dk1"/>
              </a:buClr>
              <a:buSzPts val="275"/>
              <a:buFont typeface="Arial"/>
              <a:buNone/>
            </a:pPr>
            <a:r>
              <a:rPr lang="zh-CN" sz="5536">
                <a:solidFill>
                  <a:schemeClr val="dk1"/>
                </a:solidFill>
              </a:rPr>
              <a:t>----------------------------------------------------------------</a:t>
            </a:r>
            <a:endParaRPr sz="5536">
              <a:solidFill>
                <a:schemeClr val="dk1"/>
              </a:solidFill>
            </a:endParaRPr>
          </a:p>
          <a:p>
            <a:pPr indent="0" lvl="0" marL="0" rtl="0" algn="l">
              <a:spcBef>
                <a:spcPts val="0"/>
              </a:spcBef>
              <a:spcAft>
                <a:spcPts val="0"/>
              </a:spcAft>
              <a:buClr>
                <a:schemeClr val="dk1"/>
              </a:buClr>
              <a:buSzPts val="275"/>
              <a:buFont typeface="Arial"/>
              <a:buNone/>
            </a:pPr>
            <a:r>
              <a:rPr lang="zh-CN" sz="5536">
                <a:solidFill>
                  <a:schemeClr val="dk1"/>
                </a:solidFill>
              </a:rPr>
              <a:t>100001     | ...    | ... | ...       | ...            | 0</a:t>
            </a:r>
            <a:endParaRPr sz="5536">
              <a:solidFill>
                <a:schemeClr val="dk1"/>
              </a:solidFill>
            </a:endParaRPr>
          </a:p>
          <a:p>
            <a:pPr indent="0" lvl="0" marL="0" rtl="0" algn="l">
              <a:spcBef>
                <a:spcPts val="0"/>
              </a:spcBef>
              <a:spcAft>
                <a:spcPts val="0"/>
              </a:spcAft>
              <a:buClr>
                <a:schemeClr val="dk1"/>
              </a:buClr>
              <a:buSzPts val="275"/>
              <a:buFont typeface="Arial"/>
              <a:buNone/>
            </a:pPr>
            <a:r>
              <a:rPr lang="zh-CN" sz="5536">
                <a:solidFill>
                  <a:schemeClr val="dk1"/>
                </a:solidFill>
              </a:rPr>
              <a:t>100002     | ...    | ... | ...       | ...            | 1</a:t>
            </a:r>
            <a:endParaRPr sz="5536">
              <a:solidFill>
                <a:schemeClr val="dk1"/>
              </a:solidFill>
            </a:endParaRPr>
          </a:p>
          <a:p>
            <a:pPr indent="0" lvl="0" marL="0" rtl="0" algn="l">
              <a:spcBef>
                <a:spcPts val="0"/>
              </a:spcBef>
              <a:spcAft>
                <a:spcPts val="0"/>
              </a:spcAft>
              <a:buNone/>
            </a:pPr>
            <a:r>
              <a:rPr lang="zh-CN" sz="5536">
                <a:solidFill>
                  <a:schemeClr val="dk1"/>
                </a:solidFill>
              </a:rPr>
              <a:t>100003     | ...    | ... | ...       | ...            | 0</a:t>
            </a:r>
            <a:endParaRPr sz="5536">
              <a:solidFill>
                <a:schemeClr val="dk1"/>
              </a:solidFill>
            </a:endParaRPr>
          </a:p>
          <a:p>
            <a:pPr indent="0" lvl="0" marL="0" rtl="0" algn="l">
              <a:spcBef>
                <a:spcPts val="0"/>
              </a:spcBef>
              <a:spcAft>
                <a:spcPts val="0"/>
              </a:spcAft>
              <a:buClr>
                <a:schemeClr val="dk1"/>
              </a:buClr>
              <a:buSzPts val="275"/>
              <a:buFont typeface="Arial"/>
              <a:buNone/>
            </a:pPr>
            <a:r>
              <a:t/>
            </a:r>
            <a:endParaRPr sz="5536">
              <a:solidFill>
                <a:schemeClr val="dk1"/>
              </a:solidFill>
            </a:endParaRPr>
          </a:p>
          <a:p>
            <a:pPr indent="0" lvl="0" marL="0" rtl="0" algn="l">
              <a:spcBef>
                <a:spcPts val="0"/>
              </a:spcBef>
              <a:spcAft>
                <a:spcPts val="0"/>
              </a:spcAft>
              <a:buNone/>
            </a:pPr>
            <a:r>
              <a:rPr lang="zh-CN" sz="5508"/>
              <a:t>bureau.csv–multiple previous credits per applicant</a:t>
            </a:r>
            <a:endParaRPr sz="5508"/>
          </a:p>
          <a:p>
            <a:pPr indent="0" lvl="0" marL="0" rtl="0" algn="l">
              <a:spcBef>
                <a:spcPts val="1200"/>
              </a:spcBef>
              <a:spcAft>
                <a:spcPts val="0"/>
              </a:spcAft>
              <a:buNone/>
            </a:pPr>
            <a:r>
              <a:rPr lang="zh-CN" sz="5508"/>
              <a:t>installments–many payment records per previous credit</a:t>
            </a:r>
            <a:endParaRPr sz="5508"/>
          </a:p>
          <a:p>
            <a:pPr indent="0" lvl="0" marL="0" rtl="0" algn="l">
              <a:spcBef>
                <a:spcPts val="1200"/>
              </a:spcBef>
              <a:spcAft>
                <a:spcPts val="0"/>
              </a:spcAft>
              <a:buNone/>
            </a:pPr>
            <a:r>
              <a:rPr lang="zh-CN" sz="5508"/>
              <a:t>monthly balance tables—represted observations over time</a:t>
            </a:r>
            <a:endParaRPr sz="5508"/>
          </a:p>
          <a:p>
            <a:pPr indent="0" lvl="0" marL="0" rtl="0" algn="l">
              <a:spcBef>
                <a:spcPts val="1200"/>
              </a:spcBef>
              <a:spcAft>
                <a:spcPts val="0"/>
              </a:spcAft>
              <a:buNone/>
            </a:pPr>
            <a:r>
              <a:rPr lang="zh-CN" sz="5508"/>
              <a:t>—&gt; </a:t>
            </a:r>
            <a:r>
              <a:rPr lang="zh-CN" sz="5508">
                <a:highlight>
                  <a:srgbClr val="FFFF00"/>
                </a:highlight>
              </a:rPr>
              <a:t>merge once or twice</a:t>
            </a:r>
            <a:r>
              <a:rPr lang="zh-CN" sz="5508"/>
              <a:t> based on the ID for each applicant</a:t>
            </a:r>
            <a:endParaRPr sz="5508"/>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68" name="Google Shape;68;p15"/>
          <p:cNvSpPr txBox="1"/>
          <p:nvPr/>
        </p:nvSpPr>
        <p:spPr>
          <a:xfrm>
            <a:off x="5170950" y="2347075"/>
            <a:ext cx="3571800" cy="13335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523"/>
              <a:buFont typeface="Arial"/>
              <a:buNone/>
            </a:pPr>
            <a:r>
              <a:rPr b="1" lang="zh-CN" sz="1256">
                <a:solidFill>
                  <a:schemeClr val="dk1"/>
                </a:solidFill>
              </a:rPr>
              <a:t>bureau.csv</a:t>
            </a:r>
            <a:endParaRPr b="1" sz="1256">
              <a:solidFill>
                <a:schemeClr val="dk1"/>
              </a:solidFill>
            </a:endParaRPr>
          </a:p>
          <a:p>
            <a:pPr indent="0" lvl="0" marL="0" rtl="0" algn="l">
              <a:lnSpc>
                <a:spcPct val="95000"/>
              </a:lnSpc>
              <a:spcBef>
                <a:spcPts val="0"/>
              </a:spcBef>
              <a:spcAft>
                <a:spcPts val="0"/>
              </a:spcAft>
              <a:buClr>
                <a:schemeClr val="dk1"/>
              </a:buClr>
              <a:buSzPts val="523"/>
              <a:buFont typeface="Arial"/>
              <a:buNone/>
            </a:pPr>
            <a:r>
              <a:rPr lang="zh-CN" sz="1256">
                <a:solidFill>
                  <a:schemeClr val="dk1"/>
                </a:solidFill>
              </a:rPr>
              <a:t>there may be several credit records for one user.</a:t>
            </a:r>
            <a:endParaRPr sz="1256">
              <a:solidFill>
                <a:schemeClr val="dk1"/>
              </a:solidFill>
            </a:endParaRPr>
          </a:p>
          <a:p>
            <a:pPr indent="0" lvl="0" marL="0" rtl="0" algn="l">
              <a:lnSpc>
                <a:spcPct val="95000"/>
              </a:lnSpc>
              <a:spcBef>
                <a:spcPts val="0"/>
              </a:spcBef>
              <a:spcAft>
                <a:spcPts val="0"/>
              </a:spcAft>
              <a:buClr>
                <a:schemeClr val="dk1"/>
              </a:buClr>
              <a:buSzPts val="523"/>
              <a:buFont typeface="Arial"/>
              <a:buNone/>
            </a:pPr>
            <a:r>
              <a:rPr lang="zh-CN" sz="1256">
                <a:solidFill>
                  <a:schemeClr val="dk1"/>
                </a:solidFill>
              </a:rPr>
              <a:t>it may be 100001–4 rows.</a:t>
            </a:r>
            <a:endParaRPr sz="1256">
              <a:solidFill>
                <a:schemeClr val="dk1"/>
              </a:solidFill>
            </a:endParaRPr>
          </a:p>
          <a:p>
            <a:pPr indent="0" lvl="0" marL="0" rtl="0" algn="l">
              <a:lnSpc>
                <a:spcPct val="95000"/>
              </a:lnSpc>
              <a:spcBef>
                <a:spcPts val="0"/>
              </a:spcBef>
              <a:spcAft>
                <a:spcPts val="0"/>
              </a:spcAft>
              <a:buClr>
                <a:schemeClr val="dk1"/>
              </a:buClr>
              <a:buSzPts val="523"/>
              <a:buFont typeface="Arial"/>
              <a:buNone/>
            </a:pPr>
            <a:r>
              <a:rPr lang="zh-CN" sz="1256">
                <a:solidFill>
                  <a:schemeClr val="dk1"/>
                </a:solidFill>
              </a:rPr>
              <a:t>so we need to merge them first through:</a:t>
            </a:r>
            <a:endParaRPr sz="1256">
              <a:solidFill>
                <a:schemeClr val="dk1"/>
              </a:solidFill>
            </a:endParaRPr>
          </a:p>
          <a:p>
            <a:pPr indent="0" lvl="0" marL="0" rtl="0" algn="l">
              <a:lnSpc>
                <a:spcPct val="95000"/>
              </a:lnSpc>
              <a:spcBef>
                <a:spcPts val="0"/>
              </a:spcBef>
              <a:spcAft>
                <a:spcPts val="0"/>
              </a:spcAft>
              <a:buClr>
                <a:schemeClr val="dk1"/>
              </a:buClr>
              <a:buSzPts val="523"/>
              <a:buFont typeface="Arial"/>
              <a:buNone/>
            </a:pPr>
            <a:r>
              <a:rPr lang="zh-CN" sz="1161">
                <a:solidFill>
                  <a:schemeClr val="dk1"/>
                </a:solidFill>
              </a:rPr>
              <a:t>number of previous credits</a:t>
            </a:r>
            <a:endParaRPr sz="1161">
              <a:solidFill>
                <a:schemeClr val="dk1"/>
              </a:solidFill>
            </a:endParaRPr>
          </a:p>
          <a:p>
            <a:pPr indent="0" lvl="0" marL="0" rtl="0" algn="l">
              <a:lnSpc>
                <a:spcPct val="95000"/>
              </a:lnSpc>
              <a:spcBef>
                <a:spcPts val="0"/>
              </a:spcBef>
              <a:spcAft>
                <a:spcPts val="0"/>
              </a:spcAft>
              <a:buClr>
                <a:schemeClr val="dk1"/>
              </a:buClr>
              <a:buSzPts val="523"/>
              <a:buFont typeface="Arial"/>
              <a:buNone/>
            </a:pPr>
            <a:r>
              <a:rPr lang="zh-CN" sz="1161">
                <a:solidFill>
                  <a:schemeClr val="dk1"/>
                </a:solidFill>
              </a:rPr>
              <a:t>average DAYS_CREDIT</a:t>
            </a:r>
            <a:endParaRPr sz="1161">
              <a:solidFill>
                <a:schemeClr val="dk1"/>
              </a:solidFill>
            </a:endParaRPr>
          </a:p>
          <a:p>
            <a:pPr indent="0" lvl="0" marL="0" rtl="0" algn="l">
              <a:lnSpc>
                <a:spcPct val="95000"/>
              </a:lnSpc>
              <a:spcBef>
                <a:spcPts val="0"/>
              </a:spcBef>
              <a:spcAft>
                <a:spcPts val="0"/>
              </a:spcAft>
              <a:buClr>
                <a:schemeClr val="dk1"/>
              </a:buClr>
              <a:buSzPts val="523"/>
              <a:buFont typeface="Arial"/>
              <a:buNone/>
            </a:pPr>
            <a:r>
              <a:rPr lang="zh-CN" sz="1161">
                <a:solidFill>
                  <a:schemeClr val="dk1"/>
                </a:solidFill>
              </a:rPr>
              <a:t>maximum overdue</a:t>
            </a:r>
            <a:endParaRPr sz="1161">
              <a:solidFill>
                <a:schemeClr val="dk1"/>
              </a:solidFill>
            </a:endParaRPr>
          </a:p>
          <a:p>
            <a:pPr indent="0" lvl="0" marL="0" rtl="0" algn="l">
              <a:lnSpc>
                <a:spcPct val="95000"/>
              </a:lnSpc>
              <a:spcBef>
                <a:spcPts val="0"/>
              </a:spcBef>
              <a:spcAft>
                <a:spcPts val="0"/>
              </a:spcAft>
              <a:buClr>
                <a:schemeClr val="dk1"/>
              </a:buClr>
              <a:buSzPts val="523"/>
              <a:buFont typeface="Arial"/>
              <a:buNone/>
            </a:pPr>
            <a:r>
              <a:rPr lang="zh-CN" sz="1161">
                <a:solidFill>
                  <a:schemeClr val="dk1"/>
                </a:solidFill>
              </a:rPr>
              <a:t>total credit amount</a:t>
            </a:r>
            <a:endParaRPr sz="1161">
              <a:solidFill>
                <a:schemeClr val="dk1"/>
              </a:solidFill>
            </a:endParaRPr>
          </a:p>
          <a:p>
            <a:pPr indent="0" lvl="0" marL="0" rtl="0" algn="l">
              <a:lnSpc>
                <a:spcPct val="95000"/>
              </a:lnSpc>
              <a:spcBef>
                <a:spcPts val="0"/>
              </a:spcBef>
              <a:spcAft>
                <a:spcPts val="0"/>
              </a:spcAft>
              <a:buClr>
                <a:schemeClr val="dk1"/>
              </a:buClr>
              <a:buSzPts val="523"/>
              <a:buFont typeface="Arial"/>
              <a:buNone/>
            </a:pPr>
            <a:r>
              <a:rPr lang="zh-CN" sz="1161">
                <a:solidFill>
                  <a:schemeClr val="dk1"/>
                </a:solidFill>
              </a:rPr>
              <a:t>average debt</a:t>
            </a:r>
            <a:endParaRPr sz="1161">
              <a:solidFill>
                <a:schemeClr val="dk1"/>
              </a:solidFill>
            </a:endParaRPr>
          </a:p>
          <a:p>
            <a:pPr indent="0" lvl="0" marL="0" rtl="0" algn="l">
              <a:lnSpc>
                <a:spcPct val="95000"/>
              </a:lnSpc>
              <a:spcBef>
                <a:spcPts val="0"/>
              </a:spcBef>
              <a:spcAft>
                <a:spcPts val="0"/>
              </a:spcAft>
              <a:buClr>
                <a:schemeClr val="dk1"/>
              </a:buClr>
              <a:buSzPts val="523"/>
              <a:buFont typeface="Arial"/>
              <a:buNone/>
            </a:pPr>
            <a:r>
              <a:t/>
            </a:r>
            <a:endParaRPr sz="1056">
              <a:solidFill>
                <a:schemeClr val="dk1"/>
              </a:solidFill>
            </a:endParaRPr>
          </a:p>
          <a:p>
            <a:pPr indent="0" lvl="0" marL="0" rtl="0" algn="l">
              <a:lnSpc>
                <a:spcPct val="95000"/>
              </a:lnSpc>
              <a:spcBef>
                <a:spcPts val="0"/>
              </a:spcBef>
              <a:spcAft>
                <a:spcPts val="0"/>
              </a:spcAft>
              <a:buClr>
                <a:schemeClr val="dk1"/>
              </a:buClr>
              <a:buSzPts val="523"/>
              <a:buFont typeface="Arial"/>
              <a:buNone/>
            </a:pPr>
            <a:r>
              <a:t/>
            </a:r>
            <a:endParaRPr b="1" sz="1356">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Model Selection</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Clr>
                <a:schemeClr val="dk1"/>
              </a:buClr>
              <a:buSzPct val="43676"/>
              <a:buFont typeface="Arial"/>
              <a:buNone/>
            </a:pPr>
            <a:r>
              <a:rPr lang="zh-CN" sz="2519">
                <a:solidFill>
                  <a:schemeClr val="dk1"/>
                </a:solidFill>
              </a:rPr>
              <a:t>Logistic regression: 0.632</a:t>
            </a:r>
            <a:endParaRPr sz="2519">
              <a:solidFill>
                <a:schemeClr val="dk1"/>
              </a:solidFill>
            </a:endParaRPr>
          </a:p>
          <a:p>
            <a:pPr indent="0" lvl="0" marL="0" rtl="0" algn="l">
              <a:spcBef>
                <a:spcPts val="0"/>
              </a:spcBef>
              <a:spcAft>
                <a:spcPts val="0"/>
              </a:spcAft>
              <a:buClr>
                <a:schemeClr val="dk1"/>
              </a:buClr>
              <a:buSzPct val="43676"/>
              <a:buFont typeface="Arial"/>
              <a:buNone/>
            </a:pPr>
            <a:r>
              <a:rPr lang="zh-CN" sz="2519">
                <a:solidFill>
                  <a:schemeClr val="dk1"/>
                </a:solidFill>
              </a:rPr>
              <a:t>Random Forest: 0.737</a:t>
            </a:r>
            <a:endParaRPr sz="2519">
              <a:solidFill>
                <a:schemeClr val="dk1"/>
              </a:solidFill>
            </a:endParaRPr>
          </a:p>
          <a:p>
            <a:pPr indent="0" lvl="0" marL="0" rtl="0" algn="l">
              <a:spcBef>
                <a:spcPts val="0"/>
              </a:spcBef>
              <a:spcAft>
                <a:spcPts val="0"/>
              </a:spcAft>
              <a:buClr>
                <a:schemeClr val="dk1"/>
              </a:buClr>
              <a:buSzPct val="43676"/>
              <a:buFont typeface="Arial"/>
              <a:buNone/>
            </a:pPr>
            <a:r>
              <a:rPr lang="zh-CN" sz="2519">
                <a:solidFill>
                  <a:schemeClr val="dk1"/>
                </a:solidFill>
              </a:rPr>
              <a:t>HistGradientBoosting: 0.759</a:t>
            </a:r>
            <a:endParaRPr sz="2519">
              <a:solidFill>
                <a:schemeClr val="dk1"/>
              </a:solidFill>
            </a:endParaRPr>
          </a:p>
          <a:p>
            <a:pPr indent="0" lvl="0" marL="0" rtl="0" algn="l">
              <a:spcBef>
                <a:spcPts val="0"/>
              </a:spcBef>
              <a:spcAft>
                <a:spcPts val="0"/>
              </a:spcAft>
              <a:buClr>
                <a:schemeClr val="dk1"/>
              </a:buClr>
              <a:buSzPct val="43676"/>
              <a:buFont typeface="Arial"/>
              <a:buNone/>
            </a:pPr>
            <a:r>
              <a:rPr lang="zh-CN" sz="2519">
                <a:solidFill>
                  <a:schemeClr val="dk1"/>
                </a:solidFill>
              </a:rPr>
              <a:t>XGBoost:0.761</a:t>
            </a:r>
            <a:endParaRPr sz="2519">
              <a:solidFill>
                <a:schemeClr val="dk1"/>
              </a:solidFill>
            </a:endParaRPr>
          </a:p>
          <a:p>
            <a:pPr indent="0" lvl="0" marL="0" rtl="0" algn="l">
              <a:spcBef>
                <a:spcPts val="0"/>
              </a:spcBef>
              <a:spcAft>
                <a:spcPts val="0"/>
              </a:spcAft>
              <a:buNone/>
            </a:pPr>
            <a:r>
              <a:t/>
            </a:r>
            <a:endParaRPr sz="2319"/>
          </a:p>
          <a:p>
            <a:pPr indent="0" lvl="0" marL="0" rtl="0" algn="l">
              <a:spcBef>
                <a:spcPts val="1200"/>
              </a:spcBef>
              <a:spcAft>
                <a:spcPts val="0"/>
              </a:spcAft>
              <a:buNone/>
            </a:pPr>
            <a:r>
              <a:rPr lang="zh-CN" sz="2319"/>
              <a:t>→ finally i chose HistGradientBoosting</a:t>
            </a:r>
            <a:endParaRPr sz="2319"/>
          </a:p>
          <a:p>
            <a:pPr indent="0" lvl="0" marL="0" rtl="0" algn="l">
              <a:spcBef>
                <a:spcPts val="1200"/>
              </a:spcBef>
              <a:spcAft>
                <a:spcPts val="0"/>
              </a:spcAft>
              <a:buClr>
                <a:schemeClr val="dk1"/>
              </a:buClr>
              <a:buSzPct val="50913"/>
              <a:buFont typeface="Arial"/>
              <a:buNone/>
            </a:pPr>
            <a:r>
              <a:rPr lang="zh-CN" sz="2161">
                <a:solidFill>
                  <a:schemeClr val="dk1"/>
                </a:solidFill>
              </a:rPr>
              <a:t>First, we set the baseline with Application data:</a:t>
            </a:r>
            <a:endParaRPr sz="2161">
              <a:solidFill>
                <a:schemeClr val="dk1"/>
              </a:solidFill>
            </a:endParaRPr>
          </a:p>
          <a:p>
            <a:pPr indent="0" lvl="0" marL="0" rtl="0" algn="l">
              <a:spcBef>
                <a:spcPts val="0"/>
              </a:spcBef>
              <a:spcAft>
                <a:spcPts val="0"/>
              </a:spcAft>
              <a:buClr>
                <a:schemeClr val="dk1"/>
              </a:buClr>
              <a:buSzPct val="50913"/>
              <a:buFont typeface="Arial"/>
              <a:buNone/>
            </a:pPr>
            <a:r>
              <a:rPr lang="zh-CN" sz="2161">
                <a:solidFill>
                  <a:schemeClr val="dk1"/>
                </a:solidFill>
              </a:rPr>
              <a:t>age, log-income..</a:t>
            </a:r>
            <a:endParaRPr sz="2161">
              <a:solidFill>
                <a:schemeClr val="dk1"/>
              </a:solidFill>
            </a:endParaRPr>
          </a:p>
          <a:p>
            <a:pPr indent="0" lvl="0" marL="0" rtl="0" algn="l">
              <a:spcBef>
                <a:spcPts val="0"/>
              </a:spcBef>
              <a:spcAft>
                <a:spcPts val="0"/>
              </a:spcAft>
              <a:buClr>
                <a:schemeClr val="dk1"/>
              </a:buClr>
              <a:buSzPct val="50913"/>
              <a:buFont typeface="Arial"/>
              <a:buNone/>
            </a:pPr>
            <a:r>
              <a:t/>
            </a:r>
            <a:endParaRPr sz="2161">
              <a:solidFill>
                <a:schemeClr val="dk1"/>
              </a:solidFill>
            </a:endParaRPr>
          </a:p>
          <a:p>
            <a:pPr indent="0" lvl="0" marL="0" rtl="0" algn="l">
              <a:spcBef>
                <a:spcPts val="0"/>
              </a:spcBef>
              <a:spcAft>
                <a:spcPts val="0"/>
              </a:spcAft>
              <a:buClr>
                <a:schemeClr val="dk1"/>
              </a:buClr>
              <a:buSzPct val="50913"/>
              <a:buFont typeface="Arial"/>
              <a:buNone/>
            </a:pPr>
            <a:r>
              <a:rPr b="1" lang="zh-CN" sz="2161">
                <a:solidFill>
                  <a:schemeClr val="dk1"/>
                </a:solidFill>
              </a:rPr>
              <a:t>Then</a:t>
            </a:r>
            <a:r>
              <a:rPr lang="zh-CN" sz="2161">
                <a:solidFill>
                  <a:schemeClr val="dk1"/>
                </a:solidFill>
              </a:rPr>
              <a:t> we add the other data sets by </a:t>
            </a:r>
            <a:r>
              <a:rPr b="1" lang="zh-CN" sz="2161">
                <a:solidFill>
                  <a:schemeClr val="dk1"/>
                </a:solidFill>
              </a:rPr>
              <a:t>HistGrandientBoosting</a:t>
            </a:r>
            <a:r>
              <a:rPr lang="zh-CN" sz="2161">
                <a:solidFill>
                  <a:schemeClr val="dk1"/>
                </a:solidFill>
              </a:rPr>
              <a:t>.</a:t>
            </a:r>
            <a:endParaRPr sz="2161">
              <a:solidFill>
                <a:schemeClr val="dk1"/>
              </a:solidFill>
            </a:endParaRPr>
          </a:p>
          <a:p>
            <a:pPr indent="0" lvl="0" marL="0" rtl="0" algn="l">
              <a:spcBef>
                <a:spcPts val="0"/>
              </a:spcBef>
              <a:spcAft>
                <a:spcPts val="0"/>
              </a:spcAft>
              <a:buClr>
                <a:schemeClr val="dk1"/>
              </a:buClr>
              <a:buSzPct val="50913"/>
              <a:buFont typeface="Arial"/>
              <a:buNone/>
            </a:pPr>
            <a:r>
              <a:rPr lang="zh-CN" sz="2161">
                <a:solidFill>
                  <a:schemeClr val="dk1"/>
                </a:solidFill>
                <a:highlight>
                  <a:srgbClr val="FFFF00"/>
                </a:highlight>
              </a:rPr>
              <a:t>Pipeline: Median imputation, HistGradientBoostingClassifier, Five Fold Cross Validation</a:t>
            </a:r>
            <a:endParaRPr sz="2161">
              <a:solidFill>
                <a:schemeClr val="dk1"/>
              </a:solidFill>
              <a:highlight>
                <a:srgbClr val="FFFF00"/>
              </a:highlight>
            </a:endParaRPr>
          </a:p>
          <a:p>
            <a:pPr indent="0" lvl="0" marL="0" rtl="0" algn="l">
              <a:spcBef>
                <a:spcPts val="0"/>
              </a:spcBef>
              <a:spcAft>
                <a:spcPts val="0"/>
              </a:spcAft>
              <a:buClr>
                <a:schemeClr val="dk1"/>
              </a:buClr>
              <a:buSzPct val="100000"/>
              <a:buFont typeface="Arial"/>
              <a:buNone/>
            </a:pPr>
            <a:r>
              <a:t/>
            </a:r>
            <a:endParaRPr sz="1100">
              <a:solidFill>
                <a:schemeClr val="dk1"/>
              </a:solidFill>
              <a:highlight>
                <a:srgbClr val="FFFF00"/>
              </a:highlight>
            </a:endParaRPr>
          </a:p>
          <a:p>
            <a:pPr indent="0" lvl="0" marL="0" rtl="0" algn="l">
              <a:spcBef>
                <a:spcPts val="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More about Gradient Boosting</a:t>
            </a:r>
            <a:endParaRPr/>
          </a:p>
        </p:txBody>
      </p:sp>
      <p:sp>
        <p:nvSpPr>
          <p:cNvPr id="80" name="Google Shape;80;p17"/>
          <p:cNvSpPr txBox="1"/>
          <p:nvPr>
            <p:ph idx="1" type="body"/>
          </p:nvPr>
        </p:nvSpPr>
        <p:spPr>
          <a:xfrm>
            <a:off x="311700" y="1017725"/>
            <a:ext cx="8832300" cy="3416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1100"/>
              <a:buFont typeface="Arial"/>
              <a:buNone/>
            </a:pPr>
            <a:r>
              <a:rPr lang="zh-CN" sz="1500">
                <a:solidFill>
                  <a:schemeClr val="dk1"/>
                </a:solidFill>
              </a:rPr>
              <a:t>We are using: learning_rate:0.05, max_iteration:200, max_leaf_nodes=31, random_state=42</a:t>
            </a:r>
            <a:endParaRPr sz="1500">
              <a:solidFill>
                <a:schemeClr val="dk1"/>
              </a:solidFill>
            </a:endParaRPr>
          </a:p>
          <a:p>
            <a:pPr indent="0" lvl="0" marL="0" rtl="0" algn="l">
              <a:lnSpc>
                <a:spcPct val="105000"/>
              </a:lnSpc>
              <a:spcBef>
                <a:spcPts val="0"/>
              </a:spcBef>
              <a:spcAft>
                <a:spcPts val="0"/>
              </a:spcAft>
              <a:buClr>
                <a:schemeClr val="dk1"/>
              </a:buClr>
              <a:buSzPts val="1100"/>
              <a:buFont typeface="Arial"/>
              <a:buNone/>
            </a:pPr>
            <a:r>
              <a:t/>
            </a:r>
            <a:endParaRPr sz="1500">
              <a:solidFill>
                <a:schemeClr val="dk1"/>
              </a:solidFill>
            </a:endParaRPr>
          </a:p>
          <a:p>
            <a:pPr indent="0" lvl="0" marL="0" rtl="0" algn="l">
              <a:lnSpc>
                <a:spcPct val="105000"/>
              </a:lnSpc>
              <a:spcBef>
                <a:spcPts val="0"/>
              </a:spcBef>
              <a:spcAft>
                <a:spcPts val="0"/>
              </a:spcAft>
              <a:buClr>
                <a:schemeClr val="dk1"/>
              </a:buClr>
              <a:buSzPts val="1100"/>
              <a:buFont typeface="Arial"/>
              <a:buNone/>
            </a:pPr>
            <a:r>
              <a:rPr lang="zh-CN" sz="1500" u="sng">
                <a:solidFill>
                  <a:schemeClr val="dk1"/>
                </a:solidFill>
              </a:rPr>
              <a:t>learning rate</a:t>
            </a:r>
            <a:r>
              <a:rPr lang="zh-CN" sz="1500">
                <a:solidFill>
                  <a:schemeClr val="dk1"/>
                </a:solidFill>
              </a:rPr>
              <a:t>:controls how much each new tree contributes to the overall model. Smaller learning rate means making smaller corrections at each step.</a:t>
            </a:r>
            <a:endParaRPr sz="1500">
              <a:solidFill>
                <a:schemeClr val="dk1"/>
              </a:solidFill>
            </a:endParaRPr>
          </a:p>
          <a:p>
            <a:pPr indent="0" lvl="0" marL="0" rtl="0" algn="l">
              <a:lnSpc>
                <a:spcPct val="105000"/>
              </a:lnSpc>
              <a:spcBef>
                <a:spcPts val="0"/>
              </a:spcBef>
              <a:spcAft>
                <a:spcPts val="0"/>
              </a:spcAft>
              <a:buClr>
                <a:schemeClr val="dk1"/>
              </a:buClr>
              <a:buSzPts val="1100"/>
              <a:buFont typeface="Arial"/>
              <a:buNone/>
            </a:pPr>
            <a:r>
              <a:t/>
            </a:r>
            <a:endParaRPr sz="1500">
              <a:solidFill>
                <a:schemeClr val="dk1"/>
              </a:solidFill>
            </a:endParaRPr>
          </a:p>
          <a:p>
            <a:pPr indent="0" lvl="0" marL="0" rtl="0" algn="l">
              <a:lnSpc>
                <a:spcPct val="105000"/>
              </a:lnSpc>
              <a:spcBef>
                <a:spcPts val="0"/>
              </a:spcBef>
              <a:spcAft>
                <a:spcPts val="0"/>
              </a:spcAft>
              <a:buClr>
                <a:schemeClr val="dk1"/>
              </a:buClr>
              <a:buSzPts val="1100"/>
              <a:buFont typeface="Arial"/>
              <a:buNone/>
            </a:pPr>
            <a:r>
              <a:rPr lang="zh-CN" sz="1500" u="sng">
                <a:solidFill>
                  <a:schemeClr val="dk1"/>
                </a:solidFill>
              </a:rPr>
              <a:t>max_iter</a:t>
            </a:r>
            <a:r>
              <a:rPr lang="zh-CN" sz="1500">
                <a:solidFill>
                  <a:schemeClr val="dk1"/>
                </a:solidFill>
              </a:rPr>
              <a:t>: controls the maximum number of boosting iterations, which is the maximum number of trees.</a:t>
            </a:r>
            <a:endParaRPr sz="1500">
              <a:solidFill>
                <a:schemeClr val="dk1"/>
              </a:solidFill>
            </a:endParaRPr>
          </a:p>
          <a:p>
            <a:pPr indent="0" lvl="0" marL="0" rtl="0" algn="l">
              <a:lnSpc>
                <a:spcPct val="105000"/>
              </a:lnSpc>
              <a:spcBef>
                <a:spcPts val="0"/>
              </a:spcBef>
              <a:spcAft>
                <a:spcPts val="0"/>
              </a:spcAft>
              <a:buClr>
                <a:schemeClr val="dk1"/>
              </a:buClr>
              <a:buSzPts val="1100"/>
              <a:buFont typeface="Arial"/>
              <a:buNone/>
            </a:pPr>
            <a:r>
              <a:t/>
            </a:r>
            <a:endParaRPr sz="1500">
              <a:solidFill>
                <a:schemeClr val="dk1"/>
              </a:solidFill>
            </a:endParaRPr>
          </a:p>
          <a:p>
            <a:pPr indent="0" lvl="0" marL="0" rtl="0" algn="l">
              <a:lnSpc>
                <a:spcPct val="105000"/>
              </a:lnSpc>
              <a:spcBef>
                <a:spcPts val="0"/>
              </a:spcBef>
              <a:spcAft>
                <a:spcPts val="0"/>
              </a:spcAft>
              <a:buClr>
                <a:schemeClr val="dk1"/>
              </a:buClr>
              <a:buSzPts val="1100"/>
              <a:buFont typeface="Arial"/>
              <a:buNone/>
            </a:pPr>
            <a:r>
              <a:rPr lang="zh-CN" sz="1500">
                <a:solidFill>
                  <a:schemeClr val="dk1"/>
                </a:solidFill>
              </a:rPr>
              <a:t>There will be a tradeoff between learning rate and max iteration. Taking a smaller step each time definitely gives a larger number of steps.</a:t>
            </a:r>
            <a:endParaRPr sz="1500">
              <a:solidFill>
                <a:schemeClr val="dk1"/>
              </a:solidFill>
            </a:endParaRPr>
          </a:p>
          <a:p>
            <a:pPr indent="0" lvl="0" marL="0" rtl="0" algn="l">
              <a:lnSpc>
                <a:spcPct val="105000"/>
              </a:lnSpc>
              <a:spcBef>
                <a:spcPts val="0"/>
              </a:spcBef>
              <a:spcAft>
                <a:spcPts val="0"/>
              </a:spcAft>
              <a:buClr>
                <a:schemeClr val="dk1"/>
              </a:buClr>
              <a:buSzPts val="1100"/>
              <a:buFont typeface="Arial"/>
              <a:buNone/>
            </a:pPr>
            <a:r>
              <a:t/>
            </a:r>
            <a:endParaRPr sz="1500">
              <a:solidFill>
                <a:schemeClr val="dk1"/>
              </a:solidFill>
            </a:endParaRPr>
          </a:p>
          <a:p>
            <a:pPr indent="0" lvl="0" marL="0" rtl="0" algn="l">
              <a:lnSpc>
                <a:spcPct val="105000"/>
              </a:lnSpc>
              <a:spcBef>
                <a:spcPts val="0"/>
              </a:spcBef>
              <a:spcAft>
                <a:spcPts val="0"/>
              </a:spcAft>
              <a:buClr>
                <a:schemeClr val="dk1"/>
              </a:buClr>
              <a:buSzPts val="1100"/>
              <a:buFont typeface="Arial"/>
              <a:buNone/>
            </a:pPr>
            <a:r>
              <a:rPr lang="zh-CN" sz="1500" u="sng">
                <a:solidFill>
                  <a:schemeClr val="dk1"/>
                </a:solidFill>
              </a:rPr>
              <a:t>max_leaf_nodes:</a:t>
            </a:r>
            <a:r>
              <a:rPr lang="zh-CN" sz="1500">
                <a:solidFill>
                  <a:schemeClr val="dk1"/>
                </a:solidFill>
              </a:rPr>
              <a:t> controls the maximum number of leaves in each individual decision tree. This is about the complexity of each tree. Increasing the parameter gives each tree more capacity to capture complicated patterns, but it can also increase the risk of overfitting.</a:t>
            </a:r>
            <a:endParaRPr sz="1500">
              <a:solidFill>
                <a:schemeClr val="dk1"/>
              </a:solidFill>
            </a:endParaRPr>
          </a:p>
          <a:p>
            <a:pPr indent="0" lvl="0" marL="0" rtl="0" algn="l">
              <a:lnSpc>
                <a:spcPct val="105000"/>
              </a:lnSpc>
              <a:spcBef>
                <a:spcPts val="0"/>
              </a:spcBef>
              <a:spcAft>
                <a:spcPts val="0"/>
              </a:spcAft>
              <a:buClr>
                <a:schemeClr val="dk1"/>
              </a:buClr>
              <a:buSzPts val="1100"/>
              <a:buFont typeface="Arial"/>
              <a:buNone/>
            </a:pPr>
            <a:r>
              <a:t/>
            </a:r>
            <a:endParaRPr sz="1500">
              <a:solidFill>
                <a:schemeClr val="dk1"/>
              </a:solidFill>
            </a:endParaRPr>
          </a:p>
          <a:p>
            <a:pPr indent="0" lvl="0" marL="0" rtl="0" algn="l">
              <a:lnSpc>
                <a:spcPct val="105000"/>
              </a:lnSpc>
              <a:spcBef>
                <a:spcPts val="0"/>
              </a:spcBef>
              <a:spcAft>
                <a:spcPts val="0"/>
              </a:spcAft>
              <a:buClr>
                <a:schemeClr val="dk1"/>
              </a:buClr>
              <a:buSzPts val="1100"/>
              <a:buFont typeface="Arial"/>
              <a:buNone/>
            </a:pPr>
            <a:r>
              <a:rPr lang="zh-CN" sz="1500" u="sng">
                <a:solidFill>
                  <a:schemeClr val="dk1"/>
                </a:solidFill>
              </a:rPr>
              <a:t>random_state: </a:t>
            </a:r>
            <a:r>
              <a:rPr lang="zh-CN" sz="1500">
                <a:solidFill>
                  <a:schemeClr val="dk1"/>
                </a:solidFill>
              </a:rPr>
              <a:t>controls the randomness used by the algorithm so that your results can be reproduced.</a:t>
            </a: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Hyperparameter Tuning: Grid Search</a:t>
            </a:r>
            <a:endParaRPr/>
          </a:p>
        </p:txBody>
      </p:sp>
      <p:sp>
        <p:nvSpPr>
          <p:cNvPr id="86" name="Google Shape;86;p18"/>
          <p:cNvSpPr txBox="1"/>
          <p:nvPr>
            <p:ph idx="1" type="body"/>
          </p:nvPr>
        </p:nvSpPr>
        <p:spPr>
          <a:xfrm>
            <a:off x="311700" y="1152475"/>
            <a:ext cx="81732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zh-CN" sz="1700">
                <a:solidFill>
                  <a:srgbClr val="A5D6FF"/>
                </a:solidFill>
                <a:highlight>
                  <a:schemeClr val="dk1"/>
                </a:highlight>
                <a:latin typeface="Courier New"/>
                <a:ea typeface="Courier New"/>
                <a:cs typeface="Courier New"/>
                <a:sym typeface="Courier New"/>
              </a:rPr>
              <a:t>"model__learning_rate"</a:t>
            </a:r>
            <a:r>
              <a:rPr lang="zh-CN" sz="1700">
                <a:solidFill>
                  <a:srgbClr val="BBBEBF"/>
                </a:solidFill>
                <a:highlight>
                  <a:schemeClr val="dk1"/>
                </a:highlight>
                <a:latin typeface="Courier New"/>
                <a:ea typeface="Courier New"/>
                <a:cs typeface="Courier New"/>
                <a:sym typeface="Courier New"/>
              </a:rPr>
              <a:t>: [</a:t>
            </a:r>
            <a:r>
              <a:rPr lang="zh-CN" sz="1700">
                <a:solidFill>
                  <a:srgbClr val="B5CEA8"/>
                </a:solidFill>
                <a:highlight>
                  <a:schemeClr val="dk1"/>
                </a:highlight>
                <a:latin typeface="Courier New"/>
                <a:ea typeface="Courier New"/>
                <a:cs typeface="Courier New"/>
                <a:sym typeface="Courier New"/>
              </a:rPr>
              <a:t>0.03</a:t>
            </a:r>
            <a:r>
              <a:rPr lang="zh-CN" sz="1700">
                <a:solidFill>
                  <a:srgbClr val="BBBEBF"/>
                </a:solidFill>
                <a:highlight>
                  <a:schemeClr val="dk1"/>
                </a:highlight>
                <a:latin typeface="Courier New"/>
                <a:ea typeface="Courier New"/>
                <a:cs typeface="Courier New"/>
                <a:sym typeface="Courier New"/>
              </a:rPr>
              <a:t>, </a:t>
            </a:r>
            <a:r>
              <a:rPr lang="zh-CN" sz="1700">
                <a:solidFill>
                  <a:srgbClr val="B5CEA8"/>
                </a:solidFill>
                <a:highlight>
                  <a:schemeClr val="dk1"/>
                </a:highlight>
                <a:latin typeface="Courier New"/>
                <a:ea typeface="Courier New"/>
                <a:cs typeface="Courier New"/>
                <a:sym typeface="Courier New"/>
              </a:rPr>
              <a:t>0.05</a:t>
            </a:r>
            <a:r>
              <a:rPr lang="zh-CN" sz="1700">
                <a:solidFill>
                  <a:srgbClr val="BBBEBF"/>
                </a:solidFill>
                <a:highlight>
                  <a:schemeClr val="dk1"/>
                </a:highlight>
                <a:latin typeface="Courier New"/>
                <a:ea typeface="Courier New"/>
                <a:cs typeface="Courier New"/>
                <a:sym typeface="Courier New"/>
              </a:rPr>
              <a:t>, </a:t>
            </a:r>
            <a:r>
              <a:rPr lang="zh-CN" sz="1700">
                <a:solidFill>
                  <a:srgbClr val="B5CEA8"/>
                </a:solidFill>
                <a:highlight>
                  <a:schemeClr val="dk1"/>
                </a:highlight>
                <a:latin typeface="Courier New"/>
                <a:ea typeface="Courier New"/>
                <a:cs typeface="Courier New"/>
                <a:sym typeface="Courier New"/>
              </a:rPr>
              <a:t>0.1</a:t>
            </a:r>
            <a:r>
              <a:rPr lang="zh-CN" sz="1700">
                <a:solidFill>
                  <a:srgbClr val="BBBEBF"/>
                </a:solidFill>
                <a:highlight>
                  <a:schemeClr val="dk1"/>
                </a:highlight>
                <a:latin typeface="Courier New"/>
                <a:ea typeface="Courier New"/>
                <a:cs typeface="Courier New"/>
                <a:sym typeface="Courier New"/>
              </a:rPr>
              <a:t>],</a:t>
            </a:r>
            <a:endParaRPr sz="1700">
              <a:solidFill>
                <a:srgbClr val="BBBEB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zh-CN" sz="1700">
                <a:solidFill>
                  <a:srgbClr val="BBBEBF"/>
                </a:solidFill>
                <a:highlight>
                  <a:schemeClr val="dk1"/>
                </a:highlight>
                <a:latin typeface="Courier New"/>
                <a:ea typeface="Courier New"/>
                <a:cs typeface="Courier New"/>
                <a:sym typeface="Courier New"/>
              </a:rPr>
              <a:t>   </a:t>
            </a:r>
            <a:r>
              <a:rPr lang="zh-CN" sz="1700">
                <a:solidFill>
                  <a:srgbClr val="A5D6FF"/>
                </a:solidFill>
                <a:highlight>
                  <a:schemeClr val="dk1"/>
                </a:highlight>
                <a:latin typeface="Courier New"/>
                <a:ea typeface="Courier New"/>
                <a:cs typeface="Courier New"/>
                <a:sym typeface="Courier New"/>
              </a:rPr>
              <a:t>"model__max_iter"</a:t>
            </a:r>
            <a:r>
              <a:rPr lang="zh-CN" sz="1700">
                <a:solidFill>
                  <a:srgbClr val="BBBEBF"/>
                </a:solidFill>
                <a:highlight>
                  <a:schemeClr val="dk1"/>
                </a:highlight>
                <a:latin typeface="Courier New"/>
                <a:ea typeface="Courier New"/>
                <a:cs typeface="Courier New"/>
                <a:sym typeface="Courier New"/>
              </a:rPr>
              <a:t>: [</a:t>
            </a:r>
            <a:r>
              <a:rPr lang="zh-CN" sz="1700">
                <a:solidFill>
                  <a:srgbClr val="B5CEA8"/>
                </a:solidFill>
                <a:highlight>
                  <a:schemeClr val="dk1"/>
                </a:highlight>
                <a:latin typeface="Courier New"/>
                <a:ea typeface="Courier New"/>
                <a:cs typeface="Courier New"/>
                <a:sym typeface="Courier New"/>
              </a:rPr>
              <a:t>100</a:t>
            </a:r>
            <a:r>
              <a:rPr lang="zh-CN" sz="1700">
                <a:solidFill>
                  <a:srgbClr val="BBBEBF"/>
                </a:solidFill>
                <a:highlight>
                  <a:schemeClr val="dk1"/>
                </a:highlight>
                <a:latin typeface="Courier New"/>
                <a:ea typeface="Courier New"/>
                <a:cs typeface="Courier New"/>
                <a:sym typeface="Courier New"/>
              </a:rPr>
              <a:t>, </a:t>
            </a:r>
            <a:r>
              <a:rPr lang="zh-CN" sz="1700">
                <a:solidFill>
                  <a:srgbClr val="B5CEA8"/>
                </a:solidFill>
                <a:highlight>
                  <a:schemeClr val="dk1"/>
                </a:highlight>
                <a:latin typeface="Courier New"/>
                <a:ea typeface="Courier New"/>
                <a:cs typeface="Courier New"/>
                <a:sym typeface="Courier New"/>
              </a:rPr>
              <a:t>200</a:t>
            </a:r>
            <a:r>
              <a:rPr lang="zh-CN" sz="1700">
                <a:solidFill>
                  <a:srgbClr val="BBBEBF"/>
                </a:solidFill>
                <a:highlight>
                  <a:schemeClr val="dk1"/>
                </a:highlight>
                <a:latin typeface="Courier New"/>
                <a:ea typeface="Courier New"/>
                <a:cs typeface="Courier New"/>
                <a:sym typeface="Courier New"/>
              </a:rPr>
              <a:t>, </a:t>
            </a:r>
            <a:r>
              <a:rPr lang="zh-CN" sz="1700">
                <a:solidFill>
                  <a:srgbClr val="B5CEA8"/>
                </a:solidFill>
                <a:highlight>
                  <a:schemeClr val="dk1"/>
                </a:highlight>
                <a:latin typeface="Courier New"/>
                <a:ea typeface="Courier New"/>
                <a:cs typeface="Courier New"/>
                <a:sym typeface="Courier New"/>
              </a:rPr>
              <a:t>300</a:t>
            </a:r>
            <a:r>
              <a:rPr lang="zh-CN" sz="1700">
                <a:solidFill>
                  <a:srgbClr val="BBBEBF"/>
                </a:solidFill>
                <a:highlight>
                  <a:schemeClr val="dk1"/>
                </a:highlight>
                <a:latin typeface="Courier New"/>
                <a:ea typeface="Courier New"/>
                <a:cs typeface="Courier New"/>
                <a:sym typeface="Courier New"/>
              </a:rPr>
              <a:t>],</a:t>
            </a:r>
            <a:endParaRPr sz="1700">
              <a:solidFill>
                <a:srgbClr val="BBBEBF"/>
              </a:solidFill>
              <a:highlight>
                <a:schemeClr val="dk1"/>
              </a:highlight>
              <a:latin typeface="Courier New"/>
              <a:ea typeface="Courier New"/>
              <a:cs typeface="Courier New"/>
              <a:sym typeface="Courier New"/>
            </a:endParaRPr>
          </a:p>
          <a:p>
            <a:pPr indent="0" lvl="0" marL="0" rtl="0" algn="l">
              <a:lnSpc>
                <a:spcPct val="150000"/>
              </a:lnSpc>
              <a:spcBef>
                <a:spcPts val="0"/>
              </a:spcBef>
              <a:spcAft>
                <a:spcPts val="0"/>
              </a:spcAft>
              <a:buClr>
                <a:schemeClr val="dk1"/>
              </a:buClr>
              <a:buSzPts val="1100"/>
              <a:buFont typeface="Arial"/>
              <a:buNone/>
            </a:pPr>
            <a:r>
              <a:rPr lang="zh-CN" sz="1700">
                <a:solidFill>
                  <a:srgbClr val="BBBEBF"/>
                </a:solidFill>
                <a:highlight>
                  <a:schemeClr val="dk1"/>
                </a:highlight>
                <a:latin typeface="Courier New"/>
                <a:ea typeface="Courier New"/>
                <a:cs typeface="Courier New"/>
                <a:sym typeface="Courier New"/>
              </a:rPr>
              <a:t>   </a:t>
            </a:r>
            <a:r>
              <a:rPr lang="zh-CN" sz="1700">
                <a:solidFill>
                  <a:srgbClr val="A5D6FF"/>
                </a:solidFill>
                <a:highlight>
                  <a:schemeClr val="dk1"/>
                </a:highlight>
                <a:latin typeface="Courier New"/>
                <a:ea typeface="Courier New"/>
                <a:cs typeface="Courier New"/>
                <a:sym typeface="Courier New"/>
              </a:rPr>
              <a:t>"model__max_leaf_nodes"</a:t>
            </a:r>
            <a:r>
              <a:rPr lang="zh-CN" sz="1700">
                <a:solidFill>
                  <a:srgbClr val="BBBEBF"/>
                </a:solidFill>
                <a:highlight>
                  <a:schemeClr val="dk1"/>
                </a:highlight>
                <a:latin typeface="Courier New"/>
                <a:ea typeface="Courier New"/>
                <a:cs typeface="Courier New"/>
                <a:sym typeface="Courier New"/>
              </a:rPr>
              <a:t>: [</a:t>
            </a:r>
            <a:r>
              <a:rPr lang="zh-CN" sz="1700">
                <a:solidFill>
                  <a:srgbClr val="B5CEA8"/>
                </a:solidFill>
                <a:highlight>
                  <a:schemeClr val="dk1"/>
                </a:highlight>
                <a:latin typeface="Courier New"/>
                <a:ea typeface="Courier New"/>
                <a:cs typeface="Courier New"/>
                <a:sym typeface="Courier New"/>
              </a:rPr>
              <a:t>15</a:t>
            </a:r>
            <a:r>
              <a:rPr lang="zh-CN" sz="1700">
                <a:solidFill>
                  <a:srgbClr val="BBBEBF"/>
                </a:solidFill>
                <a:highlight>
                  <a:schemeClr val="dk1"/>
                </a:highlight>
                <a:latin typeface="Courier New"/>
                <a:ea typeface="Courier New"/>
                <a:cs typeface="Courier New"/>
                <a:sym typeface="Courier New"/>
              </a:rPr>
              <a:t>, </a:t>
            </a:r>
            <a:r>
              <a:rPr lang="zh-CN" sz="1700">
                <a:solidFill>
                  <a:srgbClr val="B5CEA8"/>
                </a:solidFill>
                <a:highlight>
                  <a:schemeClr val="dk1"/>
                </a:highlight>
                <a:latin typeface="Courier New"/>
                <a:ea typeface="Courier New"/>
                <a:cs typeface="Courier New"/>
                <a:sym typeface="Courier New"/>
              </a:rPr>
              <a:t>31</a:t>
            </a:r>
            <a:r>
              <a:rPr lang="zh-CN" sz="1700">
                <a:solidFill>
                  <a:srgbClr val="BBBEBF"/>
                </a:solidFill>
                <a:highlight>
                  <a:schemeClr val="dk1"/>
                </a:highlight>
                <a:latin typeface="Courier New"/>
                <a:ea typeface="Courier New"/>
                <a:cs typeface="Courier New"/>
                <a:sym typeface="Courier New"/>
              </a:rPr>
              <a:t>, </a:t>
            </a:r>
            <a:r>
              <a:rPr lang="zh-CN" sz="1700">
                <a:solidFill>
                  <a:srgbClr val="B5CEA8"/>
                </a:solidFill>
                <a:highlight>
                  <a:schemeClr val="dk1"/>
                </a:highlight>
                <a:latin typeface="Courier New"/>
                <a:ea typeface="Courier New"/>
                <a:cs typeface="Courier New"/>
                <a:sym typeface="Courier New"/>
              </a:rPr>
              <a:t>63</a:t>
            </a:r>
            <a:r>
              <a:rPr lang="zh-CN" sz="1700">
                <a:solidFill>
                  <a:srgbClr val="BBBEBF"/>
                </a:solidFill>
                <a:highlight>
                  <a:schemeClr val="dk1"/>
                </a:highlight>
                <a:latin typeface="Courier New"/>
                <a:ea typeface="Courier New"/>
                <a:cs typeface="Courier New"/>
                <a:sym typeface="Courier New"/>
              </a:rPr>
              <a:t>]</a:t>
            </a:r>
            <a:endParaRPr sz="1900">
              <a:solidFill>
                <a:schemeClr val="dk1"/>
              </a:solidFill>
              <a:highlight>
                <a:schemeClr val="dk1"/>
              </a:highlight>
            </a:endParaRPr>
          </a:p>
          <a:p>
            <a:pPr indent="0" lvl="0" marL="0" rtl="0" algn="l">
              <a:spcBef>
                <a:spcPts val="0"/>
              </a:spcBef>
              <a:spcAft>
                <a:spcPts val="0"/>
              </a:spcAft>
              <a:buNone/>
            </a:pPr>
            <a:r>
              <a:t/>
            </a:r>
            <a:endParaRPr sz="1900">
              <a:solidFill>
                <a:schemeClr val="dk1"/>
              </a:solidFill>
              <a:highlight>
                <a:srgbClr val="FFFF00"/>
              </a:highlight>
            </a:endParaRPr>
          </a:p>
          <a:p>
            <a:pPr indent="0" lvl="0" marL="0" rtl="0" algn="l">
              <a:spcBef>
                <a:spcPts val="0"/>
              </a:spcBef>
              <a:spcAft>
                <a:spcPts val="0"/>
              </a:spcAft>
              <a:buClr>
                <a:schemeClr val="dk1"/>
              </a:buClr>
              <a:buSzPts val="1100"/>
              <a:buFont typeface="Arial"/>
              <a:buNone/>
            </a:pPr>
            <a:r>
              <a:rPr lang="zh-CN" sz="1400">
                <a:solidFill>
                  <a:schemeClr val="dk1"/>
                </a:solidFill>
                <a:highlight>
                  <a:srgbClr val="FFFF00"/>
                </a:highlight>
              </a:rPr>
              <a:t>27 combinations * 5-fold CV=135 fits</a:t>
            </a:r>
            <a:endParaRPr sz="1400">
              <a:solidFill>
                <a:schemeClr val="dk1"/>
              </a:solidFill>
              <a:highlight>
                <a:srgbClr val="FFFF00"/>
              </a:highlight>
            </a:endParaRPr>
          </a:p>
          <a:p>
            <a:pPr indent="0" lvl="0" marL="0" rtl="0" algn="l">
              <a:spcBef>
                <a:spcPts val="0"/>
              </a:spcBef>
              <a:spcAft>
                <a:spcPts val="0"/>
              </a:spcAft>
              <a:buClr>
                <a:schemeClr val="dk1"/>
              </a:buClr>
              <a:buSzPts val="1100"/>
              <a:buFont typeface="Arial"/>
              <a:buNone/>
            </a:pPr>
            <a:r>
              <a:rPr lang="zh-CN" sz="1400">
                <a:solidFill>
                  <a:schemeClr val="dk1"/>
                </a:solidFill>
              </a:rPr>
              <a:t>Best parameters:</a:t>
            </a:r>
            <a:endParaRPr sz="1400">
              <a:solidFill>
                <a:schemeClr val="dk1"/>
              </a:solidFill>
            </a:endParaRPr>
          </a:p>
          <a:p>
            <a:pPr indent="0" lvl="0" marL="0" rtl="0" algn="l">
              <a:spcBef>
                <a:spcPts val="0"/>
              </a:spcBef>
              <a:spcAft>
                <a:spcPts val="0"/>
              </a:spcAft>
              <a:buNone/>
            </a:pPr>
            <a:r>
              <a:rPr lang="zh-CN" sz="1400">
                <a:solidFill>
                  <a:schemeClr val="dk1"/>
                </a:solidFill>
              </a:rPr>
              <a:t>{'model__learning_rate': 0.03, 'model__max_iter': 300, 'model__max_leaf_nodes': 63}</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zh-CN" sz="1400">
                <a:solidFill>
                  <a:schemeClr val="dk1"/>
                </a:solidFill>
              </a:rPr>
              <a:t>Best CV ROC-AUC:</a:t>
            </a:r>
            <a:endParaRPr sz="1400">
              <a:solidFill>
                <a:schemeClr val="dk1"/>
              </a:solidFill>
            </a:endParaRPr>
          </a:p>
          <a:p>
            <a:pPr indent="0" lvl="0" marL="0" rtl="0" algn="l">
              <a:spcBef>
                <a:spcPts val="0"/>
              </a:spcBef>
              <a:spcAft>
                <a:spcPts val="0"/>
              </a:spcAft>
              <a:buClr>
                <a:schemeClr val="dk1"/>
              </a:buClr>
              <a:buSzPts val="1100"/>
              <a:buFont typeface="Arial"/>
              <a:buNone/>
            </a:pPr>
            <a:r>
              <a:rPr lang="zh-CN" sz="1400">
                <a:solidFill>
                  <a:schemeClr val="dk1"/>
                </a:solidFill>
              </a:rPr>
              <a:t>0.7792178076161225</a:t>
            </a:r>
            <a:endParaRPr sz="2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Model Performance:Using Histgradientboosting</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018"/>
              <a:buFont typeface="Arial"/>
              <a:buNone/>
            </a:pPr>
            <a:r>
              <a:rPr lang="zh-CN" sz="1873">
                <a:solidFill>
                  <a:schemeClr val="dk1"/>
                </a:solidFill>
              </a:rPr>
              <a:t>Set                               Mean_ROC_AUC</a:t>
            </a:r>
            <a:endParaRPr sz="1873">
              <a:solidFill>
                <a:schemeClr val="dk1"/>
              </a:solidFill>
            </a:endParaRPr>
          </a:p>
          <a:p>
            <a:pPr indent="0" lvl="0" marL="0" rtl="0" algn="l">
              <a:lnSpc>
                <a:spcPct val="95000"/>
              </a:lnSpc>
              <a:spcBef>
                <a:spcPts val="0"/>
              </a:spcBef>
              <a:spcAft>
                <a:spcPts val="0"/>
              </a:spcAft>
              <a:buClr>
                <a:schemeClr val="dk1"/>
              </a:buClr>
              <a:buSzPts val="1018"/>
              <a:buFont typeface="Arial"/>
              <a:buNone/>
            </a:pPr>
            <a:r>
              <a:rPr lang="zh-CN" sz="1873">
                <a:solidFill>
                  <a:schemeClr val="dk1"/>
                </a:solidFill>
              </a:rPr>
              <a:t>0             Application      0.756787</a:t>
            </a:r>
            <a:endParaRPr sz="1873">
              <a:solidFill>
                <a:schemeClr val="dk1"/>
              </a:solidFill>
            </a:endParaRPr>
          </a:p>
          <a:p>
            <a:pPr indent="0" lvl="0" marL="0" rtl="0" algn="l">
              <a:lnSpc>
                <a:spcPct val="95000"/>
              </a:lnSpc>
              <a:spcBef>
                <a:spcPts val="0"/>
              </a:spcBef>
              <a:spcAft>
                <a:spcPts val="0"/>
              </a:spcAft>
              <a:buClr>
                <a:schemeClr val="dk1"/>
              </a:buClr>
              <a:buSzPts val="1018"/>
              <a:buFont typeface="Arial"/>
              <a:buNone/>
            </a:pPr>
            <a:r>
              <a:rPr lang="zh-CN" sz="1873">
                <a:solidFill>
                  <a:schemeClr val="dk1"/>
                </a:solidFill>
              </a:rPr>
              <a:t>1                + Bureau      0.760437</a:t>
            </a:r>
            <a:endParaRPr sz="1873">
              <a:solidFill>
                <a:schemeClr val="dk1"/>
              </a:solidFill>
            </a:endParaRPr>
          </a:p>
          <a:p>
            <a:pPr indent="0" lvl="0" marL="0" rtl="0" algn="l">
              <a:lnSpc>
                <a:spcPct val="95000"/>
              </a:lnSpc>
              <a:spcBef>
                <a:spcPts val="0"/>
              </a:spcBef>
              <a:spcAft>
                <a:spcPts val="0"/>
              </a:spcAft>
              <a:buClr>
                <a:schemeClr val="dk1"/>
              </a:buClr>
              <a:buSzPts val="1018"/>
              <a:buFont typeface="Arial"/>
              <a:buNone/>
            </a:pPr>
            <a:r>
              <a:rPr lang="zh-CN" sz="1873">
                <a:solidFill>
                  <a:schemeClr val="dk1"/>
                </a:solidFill>
              </a:rPr>
              <a:t>2         + Bureau Status      0.761416</a:t>
            </a:r>
            <a:endParaRPr sz="1873">
              <a:solidFill>
                <a:schemeClr val="dk1"/>
              </a:solidFill>
            </a:endParaRPr>
          </a:p>
          <a:p>
            <a:pPr indent="0" lvl="0" marL="0" rtl="0" algn="l">
              <a:lnSpc>
                <a:spcPct val="95000"/>
              </a:lnSpc>
              <a:spcBef>
                <a:spcPts val="0"/>
              </a:spcBef>
              <a:spcAft>
                <a:spcPts val="0"/>
              </a:spcAft>
              <a:buClr>
                <a:schemeClr val="dk1"/>
              </a:buClr>
              <a:buSzPts val="1018"/>
              <a:buFont typeface="Arial"/>
              <a:buNone/>
            </a:pPr>
            <a:r>
              <a:rPr lang="zh-CN" sz="1873">
                <a:solidFill>
                  <a:schemeClr val="dk1"/>
                </a:solidFill>
              </a:rPr>
              <a:t>3  + Previous Application      0.763671</a:t>
            </a:r>
            <a:endParaRPr sz="1873">
              <a:solidFill>
                <a:schemeClr val="dk1"/>
              </a:solidFill>
            </a:endParaRPr>
          </a:p>
          <a:p>
            <a:pPr indent="0" lvl="0" marL="0" rtl="0" algn="l">
              <a:lnSpc>
                <a:spcPct val="95000"/>
              </a:lnSpc>
              <a:spcBef>
                <a:spcPts val="0"/>
              </a:spcBef>
              <a:spcAft>
                <a:spcPts val="0"/>
              </a:spcAft>
              <a:buClr>
                <a:schemeClr val="dk1"/>
              </a:buClr>
              <a:buSzPts val="1018"/>
              <a:buFont typeface="Arial"/>
              <a:buNone/>
            </a:pPr>
            <a:r>
              <a:rPr lang="zh-CN" sz="1873">
                <a:solidFill>
                  <a:schemeClr val="dk1"/>
                </a:solidFill>
              </a:rPr>
              <a:t>4          + Installments      0.769354</a:t>
            </a:r>
            <a:endParaRPr sz="1873">
              <a:solidFill>
                <a:schemeClr val="dk1"/>
              </a:solidFill>
            </a:endParaRPr>
          </a:p>
          <a:p>
            <a:pPr indent="0" lvl="0" marL="0" rtl="0" algn="l">
              <a:lnSpc>
                <a:spcPct val="95000"/>
              </a:lnSpc>
              <a:spcBef>
                <a:spcPts val="0"/>
              </a:spcBef>
              <a:spcAft>
                <a:spcPts val="0"/>
              </a:spcAft>
              <a:buClr>
                <a:schemeClr val="dk1"/>
              </a:buClr>
              <a:buSzPts val="1018"/>
              <a:buFont typeface="Arial"/>
              <a:buNone/>
            </a:pPr>
            <a:r>
              <a:rPr lang="zh-CN" sz="1873">
                <a:solidFill>
                  <a:schemeClr val="dk1"/>
                </a:solidFill>
              </a:rPr>
              <a:t>5        + Bureau Balance      0.769635</a:t>
            </a:r>
            <a:endParaRPr sz="1873">
              <a:solidFill>
                <a:schemeClr val="dk1"/>
              </a:solidFill>
            </a:endParaRPr>
          </a:p>
          <a:p>
            <a:pPr indent="0" lvl="0" marL="0" rtl="0" algn="l">
              <a:lnSpc>
                <a:spcPct val="95000"/>
              </a:lnSpc>
              <a:spcBef>
                <a:spcPts val="0"/>
              </a:spcBef>
              <a:spcAft>
                <a:spcPts val="0"/>
              </a:spcAft>
              <a:buClr>
                <a:schemeClr val="dk1"/>
              </a:buClr>
              <a:buSzPts val="1018"/>
              <a:buFont typeface="Arial"/>
              <a:buNone/>
            </a:pPr>
            <a:r>
              <a:rPr lang="zh-CN" sz="1873">
                <a:solidFill>
                  <a:schemeClr val="dk1"/>
                </a:solidFill>
              </a:rPr>
              <a:t>6              + POS_CASH      0.775390</a:t>
            </a:r>
            <a:endParaRPr sz="1873">
              <a:solidFill>
                <a:schemeClr val="dk1"/>
              </a:solidFill>
            </a:endParaRPr>
          </a:p>
          <a:p>
            <a:pPr indent="0" lvl="0" marL="0" rtl="0" algn="l">
              <a:lnSpc>
                <a:spcPct val="95000"/>
              </a:lnSpc>
              <a:spcBef>
                <a:spcPts val="0"/>
              </a:spcBef>
              <a:spcAft>
                <a:spcPts val="0"/>
              </a:spcAft>
              <a:buSzPts val="1018"/>
              <a:buNone/>
            </a:pPr>
            <a:r>
              <a:rPr lang="zh-CN" sz="1873">
                <a:solidFill>
                  <a:schemeClr val="dk1"/>
                </a:solidFill>
              </a:rPr>
              <a:t>7   + Credit Card Balance     </a:t>
            </a:r>
            <a:r>
              <a:rPr lang="zh-CN" sz="1873">
                <a:solidFill>
                  <a:schemeClr val="dk1"/>
                </a:solidFill>
                <a:highlight>
                  <a:srgbClr val="FFFF00"/>
                </a:highlight>
              </a:rPr>
              <a:t> 0.779217</a:t>
            </a:r>
            <a:endParaRPr sz="1965"/>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Results and Graphs</a:t>
            </a:r>
            <a:endParaRPr/>
          </a:p>
        </p:txBody>
      </p:sp>
      <p:sp>
        <p:nvSpPr>
          <p:cNvPr id="98" name="Google Shape;98;p20"/>
          <p:cNvSpPr txBox="1"/>
          <p:nvPr>
            <p:ph idx="1" type="body"/>
          </p:nvPr>
        </p:nvSpPr>
        <p:spPr>
          <a:xfrm>
            <a:off x="4023900" y="1394775"/>
            <a:ext cx="4808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zh-CN">
                <a:solidFill>
                  <a:schemeClr val="dk1"/>
                </a:solidFill>
              </a:rPr>
              <a:t>ROC Curve:</a:t>
            </a:r>
            <a:endParaRPr>
              <a:solidFill>
                <a:schemeClr val="dk1"/>
              </a:solidFill>
            </a:endParaRPr>
          </a:p>
          <a:p>
            <a:pPr indent="0" lvl="0" marL="0" rtl="0" algn="l">
              <a:spcBef>
                <a:spcPts val="0"/>
              </a:spcBef>
              <a:spcAft>
                <a:spcPts val="0"/>
              </a:spcAft>
              <a:buNone/>
            </a:pPr>
            <a:r>
              <a:rPr lang="zh-CN">
                <a:solidFill>
                  <a:schemeClr val="dk1"/>
                </a:solidFill>
              </a:rPr>
              <a:t>X-axis: False Positive Rate= % of good borrowers incorrectly marked as high-risk</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zh-CN">
                <a:solidFill>
                  <a:schemeClr val="dk1"/>
                </a:solidFill>
              </a:rPr>
              <a:t>Y-axis: True Positive Rate=% of actual defaulters caught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when AUC =0.5, this means a random guess, which is the diagonal line.</a:t>
            </a:r>
            <a:endParaRPr sz="2500"/>
          </a:p>
        </p:txBody>
      </p:sp>
      <p:pic>
        <p:nvPicPr>
          <p:cNvPr id="99" name="Google Shape;99;p20"/>
          <p:cNvPicPr preferRelativeResize="0"/>
          <p:nvPr/>
        </p:nvPicPr>
        <p:blipFill>
          <a:blip r:embed="rId3">
            <a:alphaModFix/>
          </a:blip>
          <a:stretch>
            <a:fillRect/>
          </a:stretch>
        </p:blipFill>
        <p:spPr>
          <a:xfrm>
            <a:off x="311700" y="1149200"/>
            <a:ext cx="3605625" cy="3661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Results and Graphs</a:t>
            </a:r>
            <a:endParaRPr/>
          </a:p>
        </p:txBody>
      </p:sp>
      <p:sp>
        <p:nvSpPr>
          <p:cNvPr id="105" name="Google Shape;105;p21"/>
          <p:cNvSpPr txBox="1"/>
          <p:nvPr>
            <p:ph idx="1" type="body"/>
          </p:nvPr>
        </p:nvSpPr>
        <p:spPr>
          <a:xfrm>
            <a:off x="4280100" y="1151488"/>
            <a:ext cx="4260300" cy="3760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zh-CN" sz="1600">
                <a:solidFill>
                  <a:schemeClr val="dk1"/>
                </a:solidFill>
              </a:rPr>
              <a:t>X-axis: Recall, sensitivity=TP/TP+FN, % of real defaulters the model catch</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zh-CN" sz="1600">
                <a:solidFill>
                  <a:schemeClr val="dk1"/>
                </a:solidFill>
              </a:rPr>
              <a:t>Y-axis: precision=TP/TP+FP, among all the high risk flagged people, what fraction actually default.</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zh-CN" sz="1600">
                <a:solidFill>
                  <a:schemeClr val="dk1"/>
                </a:solidFill>
              </a:rPr>
              <a:t>AP=0.27: when we label some high risk borrowers, most of them are still good borrowers. However, this is good because for Home Credit, we prefer getting good borrowers wrongly defined as high risk rather than treating high risk people as good ones.</a:t>
            </a:r>
            <a:endParaRPr sz="2300"/>
          </a:p>
        </p:txBody>
      </p:sp>
      <p:pic>
        <p:nvPicPr>
          <p:cNvPr id="106" name="Google Shape;106;p21"/>
          <p:cNvPicPr preferRelativeResize="0"/>
          <p:nvPr/>
        </p:nvPicPr>
        <p:blipFill>
          <a:blip r:embed="rId3">
            <a:alphaModFix/>
          </a:blip>
          <a:stretch>
            <a:fillRect/>
          </a:stretch>
        </p:blipFill>
        <p:spPr>
          <a:xfrm>
            <a:off x="311700" y="1151502"/>
            <a:ext cx="3786025" cy="3571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Results and Graphs</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3" name="Google Shape;113;p22"/>
          <p:cNvPicPr preferRelativeResize="0"/>
          <p:nvPr/>
        </p:nvPicPr>
        <p:blipFill>
          <a:blip r:embed="rId3">
            <a:alphaModFix/>
          </a:blip>
          <a:stretch>
            <a:fillRect/>
          </a:stretch>
        </p:blipFill>
        <p:spPr>
          <a:xfrm>
            <a:off x="311700" y="988274"/>
            <a:ext cx="5469026" cy="4155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zh-CN"/>
              <a:t>Results and Graphs</a:t>
            </a:r>
            <a:endParaRPr/>
          </a:p>
        </p:txBody>
      </p:sp>
      <p:sp>
        <p:nvSpPr>
          <p:cNvPr id="119" name="Google Shape;119;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0" name="Google Shape;120;p23"/>
          <p:cNvPicPr preferRelativeResize="0"/>
          <p:nvPr/>
        </p:nvPicPr>
        <p:blipFill>
          <a:blip r:embed="rId3">
            <a:alphaModFix/>
          </a:blip>
          <a:stretch>
            <a:fillRect/>
          </a:stretch>
        </p:blipFill>
        <p:spPr>
          <a:xfrm>
            <a:off x="388500" y="1017725"/>
            <a:ext cx="5089203" cy="4049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Final Test with testing data:Out-of-sample</a:t>
            </a:r>
            <a:endParaRPr/>
          </a:p>
        </p:txBody>
      </p:sp>
      <p:sp>
        <p:nvSpPr>
          <p:cNvPr id="126" name="Google Shape;126;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935"/>
              <a:buNone/>
            </a:pPr>
            <a:r>
              <a:rPr lang="zh-CN" sz="1614"/>
              <a:t>application_test.csv</a:t>
            </a:r>
            <a:endParaRPr sz="1614"/>
          </a:p>
          <a:p>
            <a:pPr indent="0" lvl="0" marL="0" rtl="0" algn="l">
              <a:lnSpc>
                <a:spcPct val="95000"/>
              </a:lnSpc>
              <a:spcBef>
                <a:spcPts val="1200"/>
              </a:spcBef>
              <a:spcAft>
                <a:spcPts val="0"/>
              </a:spcAft>
              <a:buSzPts val="935"/>
              <a:buNone/>
            </a:pPr>
            <a:r>
              <a:rPr lang="zh-CN" sz="1614"/>
              <a:t>→ application level features (age, log income) </a:t>
            </a:r>
            <a:endParaRPr sz="1614"/>
          </a:p>
          <a:p>
            <a:pPr indent="0" lvl="0" marL="0" rtl="0" algn="l">
              <a:lnSpc>
                <a:spcPct val="95000"/>
              </a:lnSpc>
              <a:spcBef>
                <a:spcPts val="1200"/>
              </a:spcBef>
              <a:spcAft>
                <a:spcPts val="0"/>
              </a:spcAft>
              <a:buSzPts val="935"/>
              <a:buNone/>
            </a:pPr>
            <a:r>
              <a:rPr lang="zh-CN" sz="1614"/>
              <a:t>→ merge historical credit information</a:t>
            </a:r>
            <a:endParaRPr sz="1614"/>
          </a:p>
          <a:p>
            <a:pPr indent="0" lvl="0" marL="0" rtl="0" algn="l">
              <a:lnSpc>
                <a:spcPct val="95000"/>
              </a:lnSpc>
              <a:spcBef>
                <a:spcPts val="1200"/>
              </a:spcBef>
              <a:spcAft>
                <a:spcPts val="0"/>
              </a:spcAft>
              <a:buSzPts val="935"/>
              <a:buNone/>
            </a:pPr>
            <a:r>
              <a:rPr lang="zh-CN" sz="1614"/>
              <a:t>→ applicant level information matrix</a:t>
            </a:r>
            <a:endParaRPr sz="1614"/>
          </a:p>
          <a:p>
            <a:pPr indent="0" lvl="0" marL="0" rtl="0" algn="l">
              <a:lnSpc>
                <a:spcPct val="95000"/>
              </a:lnSpc>
              <a:spcBef>
                <a:spcPts val="1200"/>
              </a:spcBef>
              <a:spcAft>
                <a:spcPts val="0"/>
              </a:spcAft>
              <a:buSzPts val="935"/>
              <a:buNone/>
            </a:pPr>
            <a:r>
              <a:rPr lang="zh-CN" sz="1614"/>
              <a:t>→align columns with training data </a:t>
            </a:r>
            <a:endParaRPr sz="1614"/>
          </a:p>
          <a:p>
            <a:pPr indent="0" lvl="0" marL="0" rtl="0" algn="l">
              <a:lnSpc>
                <a:spcPct val="95000"/>
              </a:lnSpc>
              <a:spcBef>
                <a:spcPts val="1200"/>
              </a:spcBef>
              <a:spcAft>
                <a:spcPts val="0"/>
              </a:spcAft>
              <a:buSzPts val="935"/>
              <a:buNone/>
            </a:pPr>
            <a:r>
              <a:rPr lang="zh-CN" sz="1614"/>
              <a:t>→ final tuned model</a:t>
            </a:r>
            <a:endParaRPr sz="1614"/>
          </a:p>
          <a:p>
            <a:pPr indent="0" lvl="0" marL="0" rtl="0" algn="l">
              <a:lnSpc>
                <a:spcPct val="95000"/>
              </a:lnSpc>
              <a:spcBef>
                <a:spcPts val="1200"/>
              </a:spcBef>
              <a:spcAft>
                <a:spcPts val="0"/>
              </a:spcAft>
              <a:buClr>
                <a:schemeClr val="dk1"/>
              </a:buClr>
              <a:buSzPts val="935"/>
              <a:buFont typeface="Arial"/>
              <a:buNone/>
            </a:pPr>
            <a:r>
              <a:rPr lang="zh-CN" sz="1614"/>
              <a:t>→ Predicted default probability</a:t>
            </a:r>
            <a:endParaRPr sz="1614"/>
          </a:p>
          <a:p>
            <a:pPr indent="0" lvl="0" marL="0" rtl="0" algn="l">
              <a:lnSpc>
                <a:spcPct val="95000"/>
              </a:lnSpc>
              <a:spcBef>
                <a:spcPts val="1200"/>
              </a:spcBef>
              <a:spcAft>
                <a:spcPts val="1200"/>
              </a:spcAft>
              <a:buSzPts val="935"/>
              <a:buNone/>
            </a:pPr>
            <a:r>
              <a:rPr lang="zh-CN" sz="1445"/>
              <a:t>   </a:t>
            </a:r>
            <a:endParaRPr sz="930"/>
          </a:p>
        </p:txBody>
      </p:sp>
      <p:sp>
        <p:nvSpPr>
          <p:cNvPr id="127" name="Google Shape;127;p24"/>
          <p:cNvSpPr txBox="1"/>
          <p:nvPr/>
        </p:nvSpPr>
        <p:spPr>
          <a:xfrm>
            <a:off x="5514475" y="2118050"/>
            <a:ext cx="2744700" cy="282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zh-CN" sz="1306">
                <a:solidFill>
                  <a:schemeClr val="dk2"/>
                </a:solidFill>
              </a:rPr>
              <a:t>SK_ID_CURR    TARGET</a:t>
            </a:r>
            <a:endParaRPr sz="1306">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zh-CN" sz="1306">
                <a:solidFill>
                  <a:schemeClr val="dk2"/>
                </a:solidFill>
              </a:rPr>
              <a:t>0      100001  0.034455</a:t>
            </a:r>
            <a:endParaRPr sz="1306">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zh-CN" sz="1306">
                <a:solidFill>
                  <a:schemeClr val="dk2"/>
                </a:solidFill>
              </a:rPr>
              <a:t>1      100005  0.136772</a:t>
            </a:r>
            <a:endParaRPr sz="1306">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zh-CN" sz="1306">
                <a:solidFill>
                  <a:schemeClr val="dk2"/>
                </a:solidFill>
              </a:rPr>
              <a:t>2      100013  0.023409</a:t>
            </a:r>
            <a:endParaRPr sz="1306">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zh-CN" sz="1306">
                <a:solidFill>
                  <a:schemeClr val="dk2"/>
                </a:solidFill>
              </a:rPr>
              <a:t>3      100028  0.030546</a:t>
            </a:r>
            <a:endParaRPr sz="1306">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zh-CN" sz="1306">
                <a:solidFill>
                  <a:schemeClr val="dk2"/>
                </a:solidFill>
              </a:rPr>
              <a:t>4      100038  0.104479</a:t>
            </a:r>
            <a:endParaRPr sz="1306">
              <a:solidFill>
                <a:schemeClr val="dk2"/>
              </a:solidFill>
            </a:endParaRPr>
          </a:p>
          <a:p>
            <a:pPr indent="0" lvl="0" marL="0" rtl="0" algn="l">
              <a:lnSpc>
                <a:spcPct val="115000"/>
              </a:lnSpc>
              <a:spcBef>
                <a:spcPts val="1200"/>
              </a:spcBef>
              <a:spcAft>
                <a:spcPts val="0"/>
              </a:spcAft>
              <a:buClr>
                <a:schemeClr val="dk1"/>
              </a:buClr>
              <a:buSzPts val="1100"/>
              <a:buFont typeface="Arial"/>
              <a:buNone/>
            </a:pPr>
            <a:r>
              <a:t/>
            </a:r>
            <a:endParaRPr sz="700">
              <a:solidFill>
                <a:schemeClr val="dk2"/>
              </a:solidFill>
            </a:endParaRPr>
          </a:p>
          <a:p>
            <a:pPr indent="0" lvl="0" marL="0" rtl="0" algn="l">
              <a:spcBef>
                <a:spcPts val="1200"/>
              </a:spcBef>
              <a:spcAft>
                <a:spcPts val="0"/>
              </a:spcAft>
              <a:buNone/>
            </a:pPr>
            <a:r>
              <a:t/>
            </a:r>
            <a:endParaRPr sz="7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